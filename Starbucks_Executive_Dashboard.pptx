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B3B2E"/>
            </a:solidFill>
            <a:ln w="38100" cap="flat">
              <a:solidFill>
                <a:srgbClr val="0B3B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3B2E"/>
              </a:solidFill>
              <a:ln w="9525" cap="flat">
                <a:solidFill>
                  <a:srgbClr val="0B3B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Apr*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9437.5</c:v>
                </c:pt>
                <c:pt idx="1">
                  <c:v>12951.12</c:v>
                </c:pt>
                <c:pt idx="2">
                  <c:v>13240.46</c:v>
                </c:pt>
                <c:pt idx="3">
                  <c:v>13717.47</c:v>
                </c:pt>
                <c:pt idx="4">
                  <c:v>11968.82</c:v>
                </c:pt>
                <c:pt idx="5">
                  <c:v>13838.58</c:v>
                </c:pt>
                <c:pt idx="6">
                  <c:v>3247.54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54A"/>
              </a:solidFill>
              <a:effectLst/>
            </c:spPr>
          </c:dPt>
          <c:dPt>
            <c:idx val="1"/>
            <c:bubble3D val="0"/>
            <c:spPr>
              <a:solidFill>
                <a:srgbClr val="C6A664"/>
              </a:solidFill>
              <a:effectLst/>
            </c:spPr>
          </c:dPt>
          <c:dPt>
            <c:idx val="2"/>
            <c:bubble3D val="0"/>
            <c:spPr>
              <a:solidFill>
                <a:srgbClr val="0B3B2E"/>
              </a:solidFill>
              <a:effectLst/>
            </c:spPr>
          </c:dPt>
          <c:dPt>
            <c:idx val="3"/>
            <c:bubble3D val="0"/>
            <c:spPr>
              <a:solidFill>
                <a:srgbClr val="9C3D34"/>
              </a:solidFill>
              <a:effectLst/>
            </c:spPr>
          </c:dPt>
          <c:dPt>
            <c:idx val="4"/>
            <c:bubble3D val="0"/>
            <c:spPr>
              <a:solidFill>
                <a:srgbClr val="5C8A73"/>
              </a:solidFill>
              <a:effectLst/>
            </c:spPr>
          </c:dPt>
          <c:dPt>
            <c:idx val="5"/>
            <c:bubble3D val="0"/>
            <c:spPr>
              <a:solidFill>
                <a:srgbClr val="B98C4A"/>
              </a:solidFill>
              <a:effectLst/>
            </c:spPr>
          </c:dPt>
          <c:dPt>
            <c:idx val="6"/>
            <c:bubble3D val="0"/>
            <c:spPr>
              <a:solidFill>
                <a:srgbClr val="3C2A2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Bakery</c:v>
                </c:pt>
                <c:pt idx="1">
                  <c:v>Hot Breakfast</c:v>
                </c:pt>
                <c:pt idx="2">
                  <c:v>Bistro Box</c:v>
                </c:pt>
                <c:pt idx="3">
                  <c:v>Sandwich</c:v>
                </c:pt>
                <c:pt idx="4">
                  <c:v>Petite</c:v>
                </c:pt>
                <c:pt idx="5">
                  <c:v>Parfait</c:v>
                </c:pt>
                <c:pt idx="6">
                  <c:v>Salad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43438.82</c:v>
                </c:pt>
                <c:pt idx="1">
                  <c:v>8462.31</c:v>
                </c:pt>
                <c:pt idx="2">
                  <c:v>8270.73</c:v>
                </c:pt>
                <c:pt idx="3">
                  <c:v>7657.41</c:v>
                </c:pt>
                <c:pt idx="4">
                  <c:v>7019.15</c:v>
                </c:pt>
                <c:pt idx="5">
                  <c:v>2875.56</c:v>
                </c:pt>
                <c:pt idx="6">
                  <c:v>677.51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C6B6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754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B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5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A6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3B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Store 101</c:v>
                  </c:pt>
                  <c:pt idx="1">
                    <c:v>Store 102</c:v>
                  </c:pt>
                  <c:pt idx="2">
                    <c:v>Store 103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26434.28</c:v>
                </c:pt>
                <c:pt idx="1">
                  <c:v>26416.94</c:v>
                </c:pt>
                <c:pt idx="2">
                  <c:v>25550.27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2B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754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C2B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Bakery</c:v>
                  </c:pt>
                  <c:pt idx="1">
                    <c:v>Hot Breakfast</c:v>
                  </c:pt>
                  <c:pt idx="2">
                    <c:v>Bistro Box</c:v>
                  </c:pt>
                  <c:pt idx="3">
                    <c:v>Sandwich</c:v>
                  </c:pt>
                  <c:pt idx="4">
                    <c:v>Petite</c:v>
                  </c:pt>
                  <c:pt idx="5">
                    <c:v>Parfait</c:v>
                  </c:pt>
                  <c:pt idx="6">
                    <c:v>Salad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43438.82</c:v>
                </c:pt>
                <c:pt idx="1">
                  <c:v>8462.31</c:v>
                </c:pt>
                <c:pt idx="2">
                  <c:v>8270.73</c:v>
                </c:pt>
                <c:pt idx="3">
                  <c:v>7657.41</c:v>
                </c:pt>
                <c:pt idx="4">
                  <c:v>7019.15</c:v>
                </c:pt>
                <c:pt idx="5">
                  <c:v>2875.56</c:v>
                </c:pt>
                <c:pt idx="6">
                  <c:v>677.51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850" u="none">
                  <a:solidFill>
                    <a:srgbClr val="1C2B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E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54A"/>
              </a:solidFill>
              <a:effectLst/>
            </c:spPr>
          </c:dPt>
          <c:dPt>
            <c:idx val="1"/>
            <c:bubble3D val="0"/>
            <c:spPr>
              <a:solidFill>
                <a:srgbClr val="C6A66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Mobile App</c:v>
                </c:pt>
                <c:pt idx="1">
                  <c:v>Walk-in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39377.1</c:v>
                </c:pt>
                <c:pt idx="1">
                  <c:v>39024.39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C6B6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75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18-24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55-64</c:v>
                  </c:pt>
                  <c:pt idx="5">
                    <c:v>65-80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10114.06</c:v>
                </c:pt>
                <c:pt idx="1">
                  <c:v>11937.23</c:v>
                </c:pt>
                <c:pt idx="2">
                  <c:v>11872.02</c:v>
                </c:pt>
                <c:pt idx="3">
                  <c:v>12427.88</c:v>
                </c:pt>
                <c:pt idx="4">
                  <c:v>11532.72</c:v>
                </c:pt>
                <c:pt idx="5">
                  <c:v>20517.58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B2E"/>
              </a:solidFill>
              <a:effectLst/>
            </c:spPr>
          </c:dPt>
          <c:dPt>
            <c:idx val="1"/>
            <c:bubble3D val="0"/>
            <c:spPr>
              <a:solidFill>
                <a:srgbClr val="C6A66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40848.19</c:v>
                </c:pt>
                <c:pt idx="1">
                  <c:v>37553.3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C6B6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75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8AM</c:v>
                  </c:pt>
                  <c:pt idx="1">
                    <c:v>9AM</c:v>
                  </c:pt>
                  <c:pt idx="2">
                    <c:v>10AM</c:v>
                  </c:pt>
                  <c:pt idx="3">
                    <c:v>11AM</c:v>
                  </c:pt>
                  <c:pt idx="4">
                    <c:v>12PM</c:v>
                  </c:pt>
                  <c:pt idx="5">
                    <c:v>1PM</c:v>
                  </c:pt>
                  <c:pt idx="6">
                    <c:v>2PM</c:v>
                  </c:pt>
                  <c:pt idx="7">
                    <c:v>3PM</c:v>
                  </c:pt>
                  <c:pt idx="8">
                    <c:v>4PM</c:v>
                  </c:pt>
                  <c:pt idx="9">
                    <c:v>5PM</c:v>
                  </c:pt>
                  <c:pt idx="10">
                    <c:v>6PM</c:v>
                  </c:pt>
                  <c:pt idx="11">
                    <c:v>7PM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7146.16</c:v>
                </c:pt>
                <c:pt idx="1">
                  <c:v>10408.05</c:v>
                </c:pt>
                <c:pt idx="2">
                  <c:v>9507.43</c:v>
                </c:pt>
                <c:pt idx="3">
                  <c:v>9924.67</c:v>
                </c:pt>
                <c:pt idx="4">
                  <c:v>9582.73</c:v>
                </c:pt>
                <c:pt idx="5">
                  <c:v>2310.18</c:v>
                </c:pt>
                <c:pt idx="6">
                  <c:v>7435.27</c:v>
                </c:pt>
                <c:pt idx="7">
                  <c:v>2137.63</c:v>
                </c:pt>
                <c:pt idx="8">
                  <c:v>8164.8</c:v>
                </c:pt>
                <c:pt idx="9">
                  <c:v>2030.04</c:v>
                </c:pt>
                <c:pt idx="10">
                  <c:v>7562.4</c:v>
                </c:pt>
                <c:pt idx="11">
                  <c:v>2192.13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54A"/>
              </a:solidFill>
              <a:effectLst/>
            </c:spPr>
          </c:dPt>
          <c:dPt>
            <c:idx val="1"/>
            <c:bubble3D val="0"/>
            <c:spPr>
              <a:solidFill>
                <a:srgbClr val="C6A664"/>
              </a:solidFill>
              <a:effectLst/>
            </c:spPr>
          </c:dPt>
          <c:dPt>
            <c:idx val="2"/>
            <c:bubble3D val="0"/>
            <c:spPr>
              <a:solidFill>
                <a:srgbClr val="0B3B2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Card</c:v>
                </c:pt>
                <c:pt idx="1">
                  <c:v>Cash</c:v>
                </c:pt>
                <c:pt idx="2">
                  <c:v>UPI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26484.35</c:v>
                </c:pt>
                <c:pt idx="1">
                  <c:v>26309</c:v>
                </c:pt>
                <c:pt idx="2">
                  <c:v>25608.14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C6B6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7" Type="http://schemas.openxmlformats.org/officeDocument/2006/relationships/chart" Target="/ppt/charts/chart2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.xml"/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C6A66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00754A">
              <a:alpha val="30000"/>
            </a:srgbClr>
          </a:solidFill>
          <a:ln/>
        </p:spPr>
      </p:sp>
      <p:pic>
        <p:nvPicPr>
          <p:cNvPr id="4" name="Image 0" descr="icons/coffe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7132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C6A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CEO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Performance Review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Three-Store Pilot Cluster  ·  Quarterly Business Review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October 10, 2025 – April 7,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05256" y="507492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6A664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5256" y="52120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A6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$78,401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05256" y="5733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57016" y="507492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6A664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57016" y="52120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A6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9,936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557016" y="5733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08776" y="507492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6A664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08776" y="52120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A6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208776" y="5733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860536" y="507492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6A664">
                <a:alpha val="6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0536" y="52120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A6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860536" y="5733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Locations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internal POS data  ·  customers.csv · items.csv · sales.csv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CEO'S DESK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9494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six months of trading, our three-store cluster delivered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$78,401 in revenue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9,936 transactions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what stands out isn't a single hero metric. It's consistency.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store performs within 3.5% of the others. Every payment channel — Card, Cash, UPI — splits almost exactly one-third each. Walk-in and mobile-app customers each drive roughly half of revenue.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balance is the real asset here. It means our model isn't dependent on one store's manager, one payment rail, or one channel's growth.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model we can scale with confidence.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covers store performance, the menu mix driving revenue, who our customers are, and where the clock tells us we're leaving money on the 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0956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3B2E"/>
          </a:solidFill>
          <a:ln/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0" y="1965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TAKE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0" y="2423160"/>
            <a:ext cx="384048" cy="38404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9" name="Image 0" descr="icons/arrowUp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5612" y="2519172"/>
            <a:ext cx="192024" cy="1920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59952" y="23774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healthy, replicable model — no single point of dependency.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0" y="3474720"/>
            <a:ext cx="384048" cy="38404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2" name="Image 1" descr="icons/warning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612" y="3570732"/>
            <a:ext cx="192024" cy="1920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59952" y="342900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hourly revenue gap at 1, 3, 5 &amp; 7 PM worth investigating.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4526280"/>
            <a:ext cx="384048" cy="38404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5" name="Image 2" descr="icons/targe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612" y="4622292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59952" y="44805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 and our 65–80 customer segment are under-leveraged growth levers.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  ·  EXECUTIVE PERFORMANCE REVIEW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6636" y="169164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7804" y="1920240"/>
            <a:ext cx="457200" cy="457200"/>
          </a:xfrm>
          <a:prstGeom prst="ellipse">
            <a:avLst/>
          </a:prstGeom>
          <a:solidFill>
            <a:srgbClr val="00754A">
              <a:alpha val="12000"/>
            </a:srgbClr>
          </a:solidFill>
          <a:ln/>
        </p:spPr>
      </p:sp>
      <p:pic>
        <p:nvPicPr>
          <p:cNvPr id="6" name="Image 0" descr="icons/coffe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253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9516" y="2487168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$78,401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99516" y="303580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9516" y="333756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full + 1 partial month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84348" y="169164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85516" y="1920240"/>
            <a:ext cx="457200" cy="457200"/>
          </a:xfrm>
          <a:prstGeom prst="ellipse">
            <a:avLst/>
          </a:prstGeom>
          <a:solidFill>
            <a:srgbClr val="00754A">
              <a:alpha val="12000"/>
            </a:srgbClr>
          </a:solidFill>
          <a:ln/>
        </p:spPr>
      </p:sp>
      <p:pic>
        <p:nvPicPr>
          <p:cNvPr id="12" name="Image 1" descr="icons/bag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202539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67228" y="2487168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9,936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967228" y="303580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967228" y="333756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 / store / day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52060" y="169164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53228" y="1920240"/>
            <a:ext cx="457200" cy="457200"/>
          </a:xfrm>
          <a:prstGeom prst="ellipse">
            <a:avLst/>
          </a:prstGeom>
          <a:solidFill>
            <a:srgbClr val="00754A">
              <a:alpha val="12000"/>
            </a:srgbClr>
          </a:solidFill>
          <a:ln/>
        </p:spPr>
      </p:sp>
      <p:pic>
        <p:nvPicPr>
          <p:cNvPr id="18" name="Image 2" descr="icons/star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202539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34940" y="2487168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16,466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5234940" y="303580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234940" y="333756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1.66 items per basket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319772" y="169164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20940" y="1920240"/>
            <a:ext cx="457200" cy="457200"/>
          </a:xfrm>
          <a:prstGeom prst="ellipse">
            <a:avLst/>
          </a:prstGeom>
          <a:solidFill>
            <a:srgbClr val="00754A">
              <a:alpha val="12000"/>
            </a:srgbClr>
          </a:solidFill>
          <a:ln/>
        </p:spPr>
      </p:sp>
      <p:pic>
        <p:nvPicPr>
          <p:cNvPr id="24" name="Image 3" descr="icons/targe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2025396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02652" y="2487168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$7.89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502652" y="303580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502652" y="333756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$0.03 across all stores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9587484" y="169164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788652" y="1920240"/>
            <a:ext cx="457200" cy="457200"/>
          </a:xfrm>
          <a:prstGeom prst="ellipse">
            <a:avLst/>
          </a:prstGeom>
          <a:solidFill>
            <a:srgbClr val="00754A">
              <a:alpha val="12000"/>
            </a:srgbClr>
          </a:solidFill>
          <a:ln/>
        </p:spPr>
      </p:sp>
      <p:pic>
        <p:nvPicPr>
          <p:cNvPr id="30" name="Image 4" descr="icons/users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08" y="2025396"/>
            <a:ext cx="246888" cy="2468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70364" y="2487168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9770364" y="303580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9770364" y="333756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~19.9 visits per customer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64008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reflects only 7 days of trading — not a decline</a:t>
            </a:r>
            <a:endParaRPr lang="en-US" sz="10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640080" y="475488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7" name="Text 29"/>
          <p:cNvSpPr/>
          <p:nvPr/>
        </p:nvSpPr>
        <p:spPr>
          <a:xfrm>
            <a:off x="649224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Category</a:t>
            </a:r>
            <a:endParaRPr lang="en-US" sz="1400" dirty="0"/>
          </a:p>
        </p:txBody>
      </p:sp>
      <p:graphicFrame>
        <p:nvGraphicFramePr>
          <p:cNvPr id="38" name="Chart 1" descr=""/>
          <p:cNvGraphicFramePr/>
          <p:nvPr/>
        </p:nvGraphicFramePr>
        <p:xfrm>
          <a:off x="6492240" y="4434840"/>
          <a:ext cx="50292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9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  ·  EXECUTIVE PERFORMANCE REVIEW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stores, one consistent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9496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pic>
        <p:nvPicPr>
          <p:cNvPr id="5" name="Image 0" descr="icons/stor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202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9576" y="1901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101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$26,434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68096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68096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3,367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819656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5,526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819656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871216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$7.85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871216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334256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pic>
        <p:nvPicPr>
          <p:cNvPr id="16" name="Image 1" descr="icons/stor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92024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74336" y="1901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102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62856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$26,417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4562856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562856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3,356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62856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Txns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5614416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5,557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614416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665976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$7.87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665976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8129016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pic>
        <p:nvPicPr>
          <p:cNvPr id="27" name="Image 2" descr="icons/stor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920240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769096" y="1901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103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8357616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$25,550</a:t>
            </a:r>
            <a:endParaRPr lang="en-US" sz="2600" dirty="0"/>
          </a:p>
        </p:txBody>
      </p:sp>
      <p:sp>
        <p:nvSpPr>
          <p:cNvPr id="30" name="Text 25"/>
          <p:cNvSpPr/>
          <p:nvPr/>
        </p:nvSpPr>
        <p:spPr>
          <a:xfrm>
            <a:off x="8357616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8357616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3,258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357616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Txns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9409176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5,383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9409176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10460736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$7.84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10460736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Store</a:t>
            </a:r>
            <a:endParaRPr lang="en-US" sz="14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640080" y="4251960"/>
          <a:ext cx="521208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9" name="Shape 33"/>
          <p:cNvSpPr/>
          <p:nvPr/>
        </p:nvSpPr>
        <p:spPr>
          <a:xfrm>
            <a:off x="6263640" y="393192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E9F3EC"/>
          </a:solidFill>
          <a:ln w="12700">
            <a:solidFill>
              <a:srgbClr val="BFE0CB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53796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6537960" y="44348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store operates within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 of the others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total revenue, and AOV is consistent to the penny ($7.84–$7.87). </a:t>
            </a:r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luck — it's a sign the operating model, staffing approach, and menu execution are repeatable.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6537960" y="54864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proof that the model travels cleanly across 3 locations, a 4th and 5th store carry materially lower execution risk than a typical first expansion.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  ·  EXECUTIVE PERFORMANCE REVIEW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selling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Items by Revenue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5943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474720"/>
                <a:gridCol w="109728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B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 Old-Fashioned Doughnut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$1,453.86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Sausage &amp; Cheddar Breakfast Sandwich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$1,369.10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Cranberry Orange Scone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Fritter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$1,278.95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Banana Nut Loaf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$1,276.78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Ginger Molasses Cookie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$1,275.78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Pumpkin Scone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$1,273.68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Iced Lemon Pound Cake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$1,273.59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 Chunk Cookie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$1,273.58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Maple Oat Pecan Scone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$1,238.56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8D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903720" y="1600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903720" y="1965960"/>
          <a:ext cx="4663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760720"/>
            <a:ext cx="5943600" cy="685800"/>
          </a:xfrm>
          <a:prstGeom prst="roundRect">
            <a:avLst>
              <a:gd name="adj" fmla="val 10667"/>
            </a:avLst>
          </a:prstGeom>
          <a:solidFill>
            <a:srgbClr val="E9F3EC"/>
          </a:solidFill>
          <a:ln w="12700">
            <a:solidFill>
              <a:srgbClr val="BFE0C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5852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 alone drives 55% of total revenue ($43.4K) — the clear anchor of the menu.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  ·  EXECUTIVE PERFORMANCE REVIEW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actually buying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vs. Mobile App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37490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43484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Band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343400" y="1965960"/>
          <a:ext cx="37490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813816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30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8046720" y="1965960"/>
          <a:ext cx="37490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640080" y="443484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0B3B2E"/>
          </a:solidFill>
          <a:ln/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pic>
        <p:nvPicPr>
          <p:cNvPr id="11" name="Image 0" descr="icons/users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6344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71600" y="4617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</a:t>
            </a:r>
            <a:endParaRPr lang="en-US" sz="3200" dirty="0"/>
          </a:p>
        </p:txBody>
      </p:sp>
      <p:sp>
        <p:nvSpPr>
          <p:cNvPr id="13" name="Text 7"/>
          <p:cNvSpPr/>
          <p:nvPr/>
        </p:nvSpPr>
        <p:spPr>
          <a:xfrm>
            <a:off x="1371600" y="51389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transactions per customer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868680" y="55321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our 500 tracked customers has returned multiple times. This is a habitual, loyal base — not one-off footfall — and the strongest signal in this entire dataset.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263640" y="443484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F1ECF7"/>
          </a:solidFill>
          <a:ln w="12700">
            <a:solidFill>
              <a:srgbClr val="D8C9E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649224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A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OPPORTUNITY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6492240" y="4937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65–80 age band generates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$20.5K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revenue — nearly double any other band — yet receives no differentiated treatment today.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492240" y="5715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loyalty tier or off-peak promotion for this segment could compound an already-strong base.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  ·  EXECUTIVE PERFORMANCE REVIEW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CHANNEL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customers show up, and how they pay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Hour of Day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60350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9494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 Split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949440" y="1965960"/>
          <a:ext cx="45720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480060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FBF1E2"/>
          </a:solidFill>
          <a:ln w="12700">
            <a:solidFill>
              <a:srgbClr val="EFD9A8"/>
            </a:solidFill>
            <a:prstDash val="solid"/>
          </a:ln>
        </p:spPr>
      </p:sp>
      <p:pic>
        <p:nvPicPr>
          <p:cNvPr id="9" name="Image 0" descr="icons/warning_dee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2920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4983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4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371600" y="5285232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4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falls 75–80% at 1PM, 3PM, 5PM, and 7PM compared to neighboring hours — a pattern that repeats too cleanly across all three stores to be a coincidence. 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4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assuming this reflects genuine customer demand, recommend a quick POS / data-logging audit to confirm whether transactions in these windows are being captured correctly.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  ·  EXECUTIVE PERFORMANCE REVIEW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0754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C6A66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A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 for the next quarter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3796" y="1783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C6A664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8116" y="2057400"/>
            <a:ext cx="502920" cy="502920"/>
          </a:xfrm>
          <a:prstGeom prst="ellipse">
            <a:avLst/>
          </a:prstGeom>
          <a:solidFill>
            <a:srgbClr val="C6A664">
              <a:alpha val="85000"/>
            </a:srgbClr>
          </a:solidFill>
          <a:ln/>
        </p:spPr>
      </p:sp>
      <p:pic>
        <p:nvPicPr>
          <p:cNvPr id="8" name="Image 0" descr="icons/chart_d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17627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13916" y="203911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afternoon gap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46404" y="26517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whether the 1/3/5/7 PM revenue dips are real demand or a data/POS capture issue before changing staffing.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77356" y="1783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C6A664">
                <a:alpha val="6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51676" y="2057400"/>
            <a:ext cx="502920" cy="502920"/>
          </a:xfrm>
          <a:prstGeom prst="ellipse">
            <a:avLst/>
          </a:prstGeom>
          <a:solidFill>
            <a:srgbClr val="C6A664">
              <a:alpha val="85000"/>
            </a:srgbClr>
          </a:solidFill>
          <a:ln/>
        </p:spPr>
      </p:sp>
      <p:pic>
        <p:nvPicPr>
          <p:cNvPr id="13" name="Image 1" descr="icons/star_d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17627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37476" y="203911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top bakery items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69964" y="26517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Chocolate Old-Fashioned Doughnut and Sausage &amp; Cheddar Sandwich — our two highest-revenue SKUs — in featured placement.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53796" y="4023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C6A664">
                <a:alpha val="6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28116" y="4297680"/>
            <a:ext cx="502920" cy="502920"/>
          </a:xfrm>
          <a:prstGeom prst="ellipse">
            <a:avLst/>
          </a:prstGeom>
          <a:solidFill>
            <a:srgbClr val="C6A664">
              <a:alpha val="85000"/>
            </a:srgbClr>
          </a:solidFill>
          <a:ln/>
        </p:spPr>
      </p:sp>
      <p:pic>
        <p:nvPicPr>
          <p:cNvPr id="18" name="Image 2" descr="icons/users_dee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441655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13916" y="42793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senior loyalty tier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46404" y="48920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65–80 segment already drives outsized revenue; a dedicated program could lock in and grow this base further.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77356" y="4023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C6A664">
                <a:alpha val="6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51676" y="4297680"/>
            <a:ext cx="502920" cy="502920"/>
          </a:xfrm>
          <a:prstGeom prst="ellipse">
            <a:avLst/>
          </a:prstGeom>
          <a:solidFill>
            <a:srgbClr val="C6A664">
              <a:alpha val="85000"/>
            </a:srgbClr>
          </a:solidFill>
          <a:ln/>
        </p:spPr>
      </p:sp>
      <p:pic>
        <p:nvPicPr>
          <p:cNvPr id="23" name="Image 3" descr="icons/store_dee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4416552"/>
            <a:ext cx="265176" cy="2651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37476" y="42793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4th store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569964" y="48920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locations performing within 3.5% of each other is strong proof the model is ready to replicate with low execution risk.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Review  ·  Source: internal POS data (customers.csv, items.csv, sales.csv)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Starbucks Executive Performance Review</dc:title>
  <dc:subject>PptxGenJS Presentation</dc:subject>
  <dc:creator>Office of the CEO</dc:creator>
  <cp:lastModifiedBy>Office of the CEO</cp:lastModifiedBy>
  <cp:revision>1</cp:revision>
  <dcterms:created xsi:type="dcterms:W3CDTF">2026-06-19T06:56:25Z</dcterms:created>
  <dcterms:modified xsi:type="dcterms:W3CDTF">2026-06-19T06:56:25Z</dcterms:modified>
</cp:coreProperties>
</file>